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DC3281-BE4D-44D7-90F4-9419624EDB6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A77D543-A0C4-4D9B-9266-6F3C33816D0B}">
      <dgm:prSet/>
      <dgm:spPr/>
      <dgm:t>
        <a:bodyPr/>
        <a:lstStyle/>
        <a:p>
          <a:r>
            <a:rPr lang="en-US"/>
            <a:t>Analyze how interest rates affect inflation, GDP growth, and unemployment in Canada.</a:t>
          </a:r>
        </a:p>
      </dgm:t>
    </dgm:pt>
    <dgm:pt modelId="{E190A680-CCD7-4FAF-9EFC-A5BCE9943449}" type="parTrans" cxnId="{22F293BC-98FE-40B6-8FE8-0ED276EFF5D3}">
      <dgm:prSet/>
      <dgm:spPr/>
      <dgm:t>
        <a:bodyPr/>
        <a:lstStyle/>
        <a:p>
          <a:endParaRPr lang="en-US"/>
        </a:p>
      </dgm:t>
    </dgm:pt>
    <dgm:pt modelId="{13D4B525-AE29-4763-88D1-33DF11573D6C}" type="sibTrans" cxnId="{22F293BC-98FE-40B6-8FE8-0ED276EFF5D3}">
      <dgm:prSet/>
      <dgm:spPr/>
      <dgm:t>
        <a:bodyPr/>
        <a:lstStyle/>
        <a:p>
          <a:endParaRPr lang="en-US"/>
        </a:p>
      </dgm:t>
    </dgm:pt>
    <dgm:pt modelId="{ACA7D669-3E11-49C9-99A0-623442DE6405}">
      <dgm:prSet/>
      <dgm:spPr/>
      <dgm:t>
        <a:bodyPr/>
        <a:lstStyle/>
        <a:p>
          <a:r>
            <a:rPr lang="en-US"/>
            <a:t>Compare Bank of Canada monetary policy with global central banks.</a:t>
          </a:r>
        </a:p>
      </dgm:t>
    </dgm:pt>
    <dgm:pt modelId="{6D6B3952-BA89-46C3-8E3E-4800C83D9CC9}" type="parTrans" cxnId="{53DCC883-4198-417A-9047-0474842D1099}">
      <dgm:prSet/>
      <dgm:spPr/>
      <dgm:t>
        <a:bodyPr/>
        <a:lstStyle/>
        <a:p>
          <a:endParaRPr lang="en-US"/>
        </a:p>
      </dgm:t>
    </dgm:pt>
    <dgm:pt modelId="{FE93BE13-D06C-4F93-BD5F-73135708CA14}" type="sibTrans" cxnId="{53DCC883-4198-417A-9047-0474842D1099}">
      <dgm:prSet/>
      <dgm:spPr/>
      <dgm:t>
        <a:bodyPr/>
        <a:lstStyle/>
        <a:p>
          <a:endParaRPr lang="en-US"/>
        </a:p>
      </dgm:t>
    </dgm:pt>
    <dgm:pt modelId="{1D0A235A-DC32-400E-9118-02F25BE66DE5}">
      <dgm:prSet/>
      <dgm:spPr/>
      <dgm:t>
        <a:bodyPr/>
        <a:lstStyle/>
        <a:p>
          <a:r>
            <a:rPr lang="en-US"/>
            <a:t>Time period analyzed: 1980–2025.</a:t>
          </a:r>
        </a:p>
      </dgm:t>
    </dgm:pt>
    <dgm:pt modelId="{5B2AAF8C-4A88-4868-B8F8-14B985652FF9}" type="parTrans" cxnId="{5BD54CA0-E422-4874-9152-9368BC2B95DE}">
      <dgm:prSet/>
      <dgm:spPr/>
      <dgm:t>
        <a:bodyPr/>
        <a:lstStyle/>
        <a:p>
          <a:endParaRPr lang="en-US"/>
        </a:p>
      </dgm:t>
    </dgm:pt>
    <dgm:pt modelId="{292BC7E9-E8A5-4BCB-B1BE-64EB996DA9A1}" type="sibTrans" cxnId="{5BD54CA0-E422-4874-9152-9368BC2B95DE}">
      <dgm:prSet/>
      <dgm:spPr/>
      <dgm:t>
        <a:bodyPr/>
        <a:lstStyle/>
        <a:p>
          <a:endParaRPr lang="en-US"/>
        </a:p>
      </dgm:t>
    </dgm:pt>
    <dgm:pt modelId="{7A86A5E4-6EE3-4CFF-A2E7-66F5C8E52AF1}" type="pres">
      <dgm:prSet presAssocID="{EDDC3281-BE4D-44D7-90F4-9419624EDB65}" presName="root" presStyleCnt="0">
        <dgm:presLayoutVars>
          <dgm:dir/>
          <dgm:resizeHandles val="exact"/>
        </dgm:presLayoutVars>
      </dgm:prSet>
      <dgm:spPr/>
    </dgm:pt>
    <dgm:pt modelId="{56A91AFB-ACC8-4C51-A4ED-6F789C5BCB34}" type="pres">
      <dgm:prSet presAssocID="{DA77D543-A0C4-4D9B-9266-6F3C33816D0B}" presName="compNode" presStyleCnt="0"/>
      <dgm:spPr/>
    </dgm:pt>
    <dgm:pt modelId="{D0CBA538-0D24-4DD5-8F76-6914D5B72D48}" type="pres">
      <dgm:prSet presAssocID="{DA77D543-A0C4-4D9B-9266-6F3C33816D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CE132F1F-83D2-49B9-B754-EDD095714E6A}" type="pres">
      <dgm:prSet presAssocID="{DA77D543-A0C4-4D9B-9266-6F3C33816D0B}" presName="spaceRect" presStyleCnt="0"/>
      <dgm:spPr/>
    </dgm:pt>
    <dgm:pt modelId="{F6CC01E7-1B86-44DA-92DA-424C3F42B341}" type="pres">
      <dgm:prSet presAssocID="{DA77D543-A0C4-4D9B-9266-6F3C33816D0B}" presName="textRect" presStyleLbl="revTx" presStyleIdx="0" presStyleCnt="3">
        <dgm:presLayoutVars>
          <dgm:chMax val="1"/>
          <dgm:chPref val="1"/>
        </dgm:presLayoutVars>
      </dgm:prSet>
      <dgm:spPr/>
    </dgm:pt>
    <dgm:pt modelId="{FB5A3FDC-45F7-44AC-AB35-BE8AAAF46757}" type="pres">
      <dgm:prSet presAssocID="{13D4B525-AE29-4763-88D1-33DF11573D6C}" presName="sibTrans" presStyleCnt="0"/>
      <dgm:spPr/>
    </dgm:pt>
    <dgm:pt modelId="{D80955A5-17A4-45E3-AF3C-247561E87681}" type="pres">
      <dgm:prSet presAssocID="{ACA7D669-3E11-49C9-99A0-623442DE6405}" presName="compNode" presStyleCnt="0"/>
      <dgm:spPr/>
    </dgm:pt>
    <dgm:pt modelId="{C9B951DE-8637-48FE-A8AB-A15C8A242EAC}" type="pres">
      <dgm:prSet presAssocID="{ACA7D669-3E11-49C9-99A0-623442DE64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C9F6AF64-013D-4A0C-82A9-C41F802EB823}" type="pres">
      <dgm:prSet presAssocID="{ACA7D669-3E11-49C9-99A0-623442DE6405}" presName="spaceRect" presStyleCnt="0"/>
      <dgm:spPr/>
    </dgm:pt>
    <dgm:pt modelId="{16DD1576-25EA-4F69-BB2E-87005CA0DE78}" type="pres">
      <dgm:prSet presAssocID="{ACA7D669-3E11-49C9-99A0-623442DE6405}" presName="textRect" presStyleLbl="revTx" presStyleIdx="1" presStyleCnt="3">
        <dgm:presLayoutVars>
          <dgm:chMax val="1"/>
          <dgm:chPref val="1"/>
        </dgm:presLayoutVars>
      </dgm:prSet>
      <dgm:spPr/>
    </dgm:pt>
    <dgm:pt modelId="{ABF93764-6362-4F2C-ABC2-9D51B1FDC333}" type="pres">
      <dgm:prSet presAssocID="{FE93BE13-D06C-4F93-BD5F-73135708CA14}" presName="sibTrans" presStyleCnt="0"/>
      <dgm:spPr/>
    </dgm:pt>
    <dgm:pt modelId="{DCBF40C5-010D-4809-B7D2-6F9D1E56AA3B}" type="pres">
      <dgm:prSet presAssocID="{1D0A235A-DC32-400E-9118-02F25BE66DE5}" presName="compNode" presStyleCnt="0"/>
      <dgm:spPr/>
    </dgm:pt>
    <dgm:pt modelId="{E3247B38-9F68-40BD-8E75-44B76A0F2072}" type="pres">
      <dgm:prSet presAssocID="{1D0A235A-DC32-400E-9118-02F25BE66DE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4F88E2E0-B8F1-4082-911C-B83E71CB360B}" type="pres">
      <dgm:prSet presAssocID="{1D0A235A-DC32-400E-9118-02F25BE66DE5}" presName="spaceRect" presStyleCnt="0"/>
      <dgm:spPr/>
    </dgm:pt>
    <dgm:pt modelId="{D0672637-8FA0-4AF6-AC61-CCDD5404BB58}" type="pres">
      <dgm:prSet presAssocID="{1D0A235A-DC32-400E-9118-02F25BE66DE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C44011B-1553-4222-856F-5C434377721B}" type="presOf" srcId="{EDDC3281-BE4D-44D7-90F4-9419624EDB65}" destId="{7A86A5E4-6EE3-4CFF-A2E7-66F5C8E52AF1}" srcOrd="0" destOrd="0" presId="urn:microsoft.com/office/officeart/2018/2/layout/IconLabelList"/>
    <dgm:cxn modelId="{68D3CF6A-C097-4D21-92E7-D504BD3BD79E}" type="presOf" srcId="{DA77D543-A0C4-4D9B-9266-6F3C33816D0B}" destId="{F6CC01E7-1B86-44DA-92DA-424C3F42B341}" srcOrd="0" destOrd="0" presId="urn:microsoft.com/office/officeart/2018/2/layout/IconLabelList"/>
    <dgm:cxn modelId="{53DCC883-4198-417A-9047-0474842D1099}" srcId="{EDDC3281-BE4D-44D7-90F4-9419624EDB65}" destId="{ACA7D669-3E11-49C9-99A0-623442DE6405}" srcOrd="1" destOrd="0" parTransId="{6D6B3952-BA89-46C3-8E3E-4800C83D9CC9}" sibTransId="{FE93BE13-D06C-4F93-BD5F-73135708CA14}"/>
    <dgm:cxn modelId="{5BD54CA0-E422-4874-9152-9368BC2B95DE}" srcId="{EDDC3281-BE4D-44D7-90F4-9419624EDB65}" destId="{1D0A235A-DC32-400E-9118-02F25BE66DE5}" srcOrd="2" destOrd="0" parTransId="{5B2AAF8C-4A88-4868-B8F8-14B985652FF9}" sibTransId="{292BC7E9-E8A5-4BCB-B1BE-64EB996DA9A1}"/>
    <dgm:cxn modelId="{937218AE-C49D-46AE-90C9-298AD2AB3F73}" type="presOf" srcId="{1D0A235A-DC32-400E-9118-02F25BE66DE5}" destId="{D0672637-8FA0-4AF6-AC61-CCDD5404BB58}" srcOrd="0" destOrd="0" presId="urn:microsoft.com/office/officeart/2018/2/layout/IconLabelList"/>
    <dgm:cxn modelId="{BBC4FEBA-83CF-4E5A-8387-7C348915C8FA}" type="presOf" srcId="{ACA7D669-3E11-49C9-99A0-623442DE6405}" destId="{16DD1576-25EA-4F69-BB2E-87005CA0DE78}" srcOrd="0" destOrd="0" presId="urn:microsoft.com/office/officeart/2018/2/layout/IconLabelList"/>
    <dgm:cxn modelId="{22F293BC-98FE-40B6-8FE8-0ED276EFF5D3}" srcId="{EDDC3281-BE4D-44D7-90F4-9419624EDB65}" destId="{DA77D543-A0C4-4D9B-9266-6F3C33816D0B}" srcOrd="0" destOrd="0" parTransId="{E190A680-CCD7-4FAF-9EFC-A5BCE9943449}" sibTransId="{13D4B525-AE29-4763-88D1-33DF11573D6C}"/>
    <dgm:cxn modelId="{CE2DECAC-D913-471F-9054-4B83A0B5DADF}" type="presParOf" srcId="{7A86A5E4-6EE3-4CFF-A2E7-66F5C8E52AF1}" destId="{56A91AFB-ACC8-4C51-A4ED-6F789C5BCB34}" srcOrd="0" destOrd="0" presId="urn:microsoft.com/office/officeart/2018/2/layout/IconLabelList"/>
    <dgm:cxn modelId="{B52DE506-FCAD-4F58-AFDF-32D4BC02965A}" type="presParOf" srcId="{56A91AFB-ACC8-4C51-A4ED-6F789C5BCB34}" destId="{D0CBA538-0D24-4DD5-8F76-6914D5B72D48}" srcOrd="0" destOrd="0" presId="urn:microsoft.com/office/officeart/2018/2/layout/IconLabelList"/>
    <dgm:cxn modelId="{BCB6DCAD-50F5-4004-826A-D31332DBF3C4}" type="presParOf" srcId="{56A91AFB-ACC8-4C51-A4ED-6F789C5BCB34}" destId="{CE132F1F-83D2-49B9-B754-EDD095714E6A}" srcOrd="1" destOrd="0" presId="urn:microsoft.com/office/officeart/2018/2/layout/IconLabelList"/>
    <dgm:cxn modelId="{DBA95619-DCF9-4F69-9A57-C1B9C49432EE}" type="presParOf" srcId="{56A91AFB-ACC8-4C51-A4ED-6F789C5BCB34}" destId="{F6CC01E7-1B86-44DA-92DA-424C3F42B341}" srcOrd="2" destOrd="0" presId="urn:microsoft.com/office/officeart/2018/2/layout/IconLabelList"/>
    <dgm:cxn modelId="{46ADFF59-CCB2-4AD7-A8BF-13D49DB92DA6}" type="presParOf" srcId="{7A86A5E4-6EE3-4CFF-A2E7-66F5C8E52AF1}" destId="{FB5A3FDC-45F7-44AC-AB35-BE8AAAF46757}" srcOrd="1" destOrd="0" presId="urn:microsoft.com/office/officeart/2018/2/layout/IconLabelList"/>
    <dgm:cxn modelId="{E12236D5-7A6F-4A58-BE40-6AEF4A9425E2}" type="presParOf" srcId="{7A86A5E4-6EE3-4CFF-A2E7-66F5C8E52AF1}" destId="{D80955A5-17A4-45E3-AF3C-247561E87681}" srcOrd="2" destOrd="0" presId="urn:microsoft.com/office/officeart/2018/2/layout/IconLabelList"/>
    <dgm:cxn modelId="{6C1FB014-76E0-4F2C-8107-2EA6CF497729}" type="presParOf" srcId="{D80955A5-17A4-45E3-AF3C-247561E87681}" destId="{C9B951DE-8637-48FE-A8AB-A15C8A242EAC}" srcOrd="0" destOrd="0" presId="urn:microsoft.com/office/officeart/2018/2/layout/IconLabelList"/>
    <dgm:cxn modelId="{A22896E5-4FDF-4E81-8CA8-971468DE50BA}" type="presParOf" srcId="{D80955A5-17A4-45E3-AF3C-247561E87681}" destId="{C9F6AF64-013D-4A0C-82A9-C41F802EB823}" srcOrd="1" destOrd="0" presId="urn:microsoft.com/office/officeart/2018/2/layout/IconLabelList"/>
    <dgm:cxn modelId="{8CC34B6E-43A2-46AB-B308-77AD01985530}" type="presParOf" srcId="{D80955A5-17A4-45E3-AF3C-247561E87681}" destId="{16DD1576-25EA-4F69-BB2E-87005CA0DE78}" srcOrd="2" destOrd="0" presId="urn:microsoft.com/office/officeart/2018/2/layout/IconLabelList"/>
    <dgm:cxn modelId="{2BC47D94-75C2-4D2A-9625-4E22145E5FA6}" type="presParOf" srcId="{7A86A5E4-6EE3-4CFF-A2E7-66F5C8E52AF1}" destId="{ABF93764-6362-4F2C-ABC2-9D51B1FDC333}" srcOrd="3" destOrd="0" presId="urn:microsoft.com/office/officeart/2018/2/layout/IconLabelList"/>
    <dgm:cxn modelId="{693358EB-CF53-4A65-8E22-820AB09F2067}" type="presParOf" srcId="{7A86A5E4-6EE3-4CFF-A2E7-66F5C8E52AF1}" destId="{DCBF40C5-010D-4809-B7D2-6F9D1E56AA3B}" srcOrd="4" destOrd="0" presId="urn:microsoft.com/office/officeart/2018/2/layout/IconLabelList"/>
    <dgm:cxn modelId="{A9958675-81CC-4932-B4B6-855D0C27B04E}" type="presParOf" srcId="{DCBF40C5-010D-4809-B7D2-6F9D1E56AA3B}" destId="{E3247B38-9F68-40BD-8E75-44B76A0F2072}" srcOrd="0" destOrd="0" presId="urn:microsoft.com/office/officeart/2018/2/layout/IconLabelList"/>
    <dgm:cxn modelId="{F523969C-A893-49AB-B00C-9DB7B6C4D6BB}" type="presParOf" srcId="{DCBF40C5-010D-4809-B7D2-6F9D1E56AA3B}" destId="{4F88E2E0-B8F1-4082-911C-B83E71CB360B}" srcOrd="1" destOrd="0" presId="urn:microsoft.com/office/officeart/2018/2/layout/IconLabelList"/>
    <dgm:cxn modelId="{4625E78D-4F26-4C15-AD14-9A71FED581E1}" type="presParOf" srcId="{DCBF40C5-010D-4809-B7D2-6F9D1E56AA3B}" destId="{D0672637-8FA0-4AF6-AC61-CCDD5404BB5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E11B3A-1D65-4C42-BC15-7C205CE5A2F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4E1142C-D416-408F-979E-EFCBC7956EE3}">
      <dgm:prSet/>
      <dgm:spPr/>
      <dgm:t>
        <a:bodyPr/>
        <a:lstStyle/>
        <a:p>
          <a:r>
            <a:rPr lang="en-US"/>
            <a:t>How do interest rate changes influence inflation, GDP growth, and unemployment in Canada?</a:t>
          </a:r>
        </a:p>
      </dgm:t>
    </dgm:pt>
    <dgm:pt modelId="{1E15A0C3-7943-418D-8113-8D2404E9604D}" type="parTrans" cxnId="{D91A77A1-E45C-4A84-9F5E-53FA540B7AAE}">
      <dgm:prSet/>
      <dgm:spPr/>
      <dgm:t>
        <a:bodyPr/>
        <a:lstStyle/>
        <a:p>
          <a:endParaRPr lang="en-US"/>
        </a:p>
      </dgm:t>
    </dgm:pt>
    <dgm:pt modelId="{6F24A0E3-4E93-4659-8290-2A37ABD1ED37}" type="sibTrans" cxnId="{D91A77A1-E45C-4A84-9F5E-53FA540B7AAE}">
      <dgm:prSet/>
      <dgm:spPr/>
      <dgm:t>
        <a:bodyPr/>
        <a:lstStyle/>
        <a:p>
          <a:endParaRPr lang="en-US"/>
        </a:p>
      </dgm:t>
    </dgm:pt>
    <dgm:pt modelId="{7E3D2C29-A847-49FF-973F-0DF777A47DBE}">
      <dgm:prSet/>
      <dgm:spPr/>
      <dgm:t>
        <a:bodyPr/>
        <a:lstStyle/>
        <a:p>
          <a:r>
            <a:rPr lang="en-US"/>
            <a:t>How closely does Canadian monetary policy follow U.S. Federal Reserve trends?</a:t>
          </a:r>
        </a:p>
      </dgm:t>
    </dgm:pt>
    <dgm:pt modelId="{CD690A88-3552-499B-8CD4-1BFE38E90E8D}" type="parTrans" cxnId="{0BFD1F82-DEC4-459B-813A-2493D97D16F4}">
      <dgm:prSet/>
      <dgm:spPr/>
      <dgm:t>
        <a:bodyPr/>
        <a:lstStyle/>
        <a:p>
          <a:endParaRPr lang="en-US"/>
        </a:p>
      </dgm:t>
    </dgm:pt>
    <dgm:pt modelId="{57E0F4C2-33BB-4FD2-BB34-D432030DEC2A}" type="sibTrans" cxnId="{0BFD1F82-DEC4-459B-813A-2493D97D16F4}">
      <dgm:prSet/>
      <dgm:spPr/>
      <dgm:t>
        <a:bodyPr/>
        <a:lstStyle/>
        <a:p>
          <a:endParaRPr lang="en-US"/>
        </a:p>
      </dgm:t>
    </dgm:pt>
    <dgm:pt modelId="{1795B9E5-52DE-499F-904A-1BDE307A7427}" type="pres">
      <dgm:prSet presAssocID="{8DE11B3A-1D65-4C42-BC15-7C205CE5A2FB}" presName="root" presStyleCnt="0">
        <dgm:presLayoutVars>
          <dgm:dir/>
          <dgm:resizeHandles val="exact"/>
        </dgm:presLayoutVars>
      </dgm:prSet>
      <dgm:spPr/>
    </dgm:pt>
    <dgm:pt modelId="{9366A3D1-2390-4C78-B918-BDC4C37792FA}" type="pres">
      <dgm:prSet presAssocID="{24E1142C-D416-408F-979E-EFCBC7956EE3}" presName="compNode" presStyleCnt="0"/>
      <dgm:spPr/>
    </dgm:pt>
    <dgm:pt modelId="{D088995B-9D9A-43E6-BB12-5C3F9D3475A1}" type="pres">
      <dgm:prSet presAssocID="{24E1142C-D416-408F-979E-EFCBC7956E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957514F-AD8B-4151-86EC-2B2C29CA921C}" type="pres">
      <dgm:prSet presAssocID="{24E1142C-D416-408F-979E-EFCBC7956EE3}" presName="spaceRect" presStyleCnt="0"/>
      <dgm:spPr/>
    </dgm:pt>
    <dgm:pt modelId="{18092ED4-D806-483B-BF68-59AA532E7C8C}" type="pres">
      <dgm:prSet presAssocID="{24E1142C-D416-408F-979E-EFCBC7956EE3}" presName="textRect" presStyleLbl="revTx" presStyleIdx="0" presStyleCnt="2">
        <dgm:presLayoutVars>
          <dgm:chMax val="1"/>
          <dgm:chPref val="1"/>
        </dgm:presLayoutVars>
      </dgm:prSet>
      <dgm:spPr/>
    </dgm:pt>
    <dgm:pt modelId="{C9341AE6-B810-4A42-A7DF-A0C3E4057BCC}" type="pres">
      <dgm:prSet presAssocID="{6F24A0E3-4E93-4659-8290-2A37ABD1ED37}" presName="sibTrans" presStyleCnt="0"/>
      <dgm:spPr/>
    </dgm:pt>
    <dgm:pt modelId="{00F618C8-3D73-42E6-B116-CBD91DA97DF4}" type="pres">
      <dgm:prSet presAssocID="{7E3D2C29-A847-49FF-973F-0DF777A47DBE}" presName="compNode" presStyleCnt="0"/>
      <dgm:spPr/>
    </dgm:pt>
    <dgm:pt modelId="{A636011C-5B28-4F63-A601-B6FF1B28486A}" type="pres">
      <dgm:prSet presAssocID="{7E3D2C29-A847-49FF-973F-0DF777A47DB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FB76D56-EB9B-4883-8D69-5423F7402AF7}" type="pres">
      <dgm:prSet presAssocID="{7E3D2C29-A847-49FF-973F-0DF777A47DBE}" presName="spaceRect" presStyleCnt="0"/>
      <dgm:spPr/>
    </dgm:pt>
    <dgm:pt modelId="{0505E9E0-DCF3-46DA-A8EB-E3711F9ACDE2}" type="pres">
      <dgm:prSet presAssocID="{7E3D2C29-A847-49FF-973F-0DF777A47DB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FBA266C-85AC-46DD-ABD5-CF47C212D348}" type="presOf" srcId="{7E3D2C29-A847-49FF-973F-0DF777A47DBE}" destId="{0505E9E0-DCF3-46DA-A8EB-E3711F9ACDE2}" srcOrd="0" destOrd="0" presId="urn:microsoft.com/office/officeart/2018/2/layout/IconLabelList"/>
    <dgm:cxn modelId="{0BFD1F82-DEC4-459B-813A-2493D97D16F4}" srcId="{8DE11B3A-1D65-4C42-BC15-7C205CE5A2FB}" destId="{7E3D2C29-A847-49FF-973F-0DF777A47DBE}" srcOrd="1" destOrd="0" parTransId="{CD690A88-3552-499B-8CD4-1BFE38E90E8D}" sibTransId="{57E0F4C2-33BB-4FD2-BB34-D432030DEC2A}"/>
    <dgm:cxn modelId="{D91A77A1-E45C-4A84-9F5E-53FA540B7AAE}" srcId="{8DE11B3A-1D65-4C42-BC15-7C205CE5A2FB}" destId="{24E1142C-D416-408F-979E-EFCBC7956EE3}" srcOrd="0" destOrd="0" parTransId="{1E15A0C3-7943-418D-8113-8D2404E9604D}" sibTransId="{6F24A0E3-4E93-4659-8290-2A37ABD1ED37}"/>
    <dgm:cxn modelId="{60DBD7B2-10C6-4C27-A06C-9026FBC86D70}" type="presOf" srcId="{8DE11B3A-1D65-4C42-BC15-7C205CE5A2FB}" destId="{1795B9E5-52DE-499F-904A-1BDE307A7427}" srcOrd="0" destOrd="0" presId="urn:microsoft.com/office/officeart/2018/2/layout/IconLabelList"/>
    <dgm:cxn modelId="{686C4AC5-F6DF-4659-9707-21F96459BE1B}" type="presOf" srcId="{24E1142C-D416-408F-979E-EFCBC7956EE3}" destId="{18092ED4-D806-483B-BF68-59AA532E7C8C}" srcOrd="0" destOrd="0" presId="urn:microsoft.com/office/officeart/2018/2/layout/IconLabelList"/>
    <dgm:cxn modelId="{3DA8748F-170F-4D18-88EF-08C257F599FA}" type="presParOf" srcId="{1795B9E5-52DE-499F-904A-1BDE307A7427}" destId="{9366A3D1-2390-4C78-B918-BDC4C37792FA}" srcOrd="0" destOrd="0" presId="urn:microsoft.com/office/officeart/2018/2/layout/IconLabelList"/>
    <dgm:cxn modelId="{B365A707-0670-4814-B177-7AE095600042}" type="presParOf" srcId="{9366A3D1-2390-4C78-B918-BDC4C37792FA}" destId="{D088995B-9D9A-43E6-BB12-5C3F9D3475A1}" srcOrd="0" destOrd="0" presId="urn:microsoft.com/office/officeart/2018/2/layout/IconLabelList"/>
    <dgm:cxn modelId="{1F0BA3CB-7A07-4EAA-9EC6-25AE5A4FF2B9}" type="presParOf" srcId="{9366A3D1-2390-4C78-B918-BDC4C37792FA}" destId="{F957514F-AD8B-4151-86EC-2B2C29CA921C}" srcOrd="1" destOrd="0" presId="urn:microsoft.com/office/officeart/2018/2/layout/IconLabelList"/>
    <dgm:cxn modelId="{FE3948A0-4AEB-41FB-9596-3725B7A55755}" type="presParOf" srcId="{9366A3D1-2390-4C78-B918-BDC4C37792FA}" destId="{18092ED4-D806-483B-BF68-59AA532E7C8C}" srcOrd="2" destOrd="0" presId="urn:microsoft.com/office/officeart/2018/2/layout/IconLabelList"/>
    <dgm:cxn modelId="{BE3A5D60-B6C1-4BE3-B64C-31D95E15A464}" type="presParOf" srcId="{1795B9E5-52DE-499F-904A-1BDE307A7427}" destId="{C9341AE6-B810-4A42-A7DF-A0C3E4057BCC}" srcOrd="1" destOrd="0" presId="urn:microsoft.com/office/officeart/2018/2/layout/IconLabelList"/>
    <dgm:cxn modelId="{DD048738-86CE-478E-B1AB-F6F282DDA64E}" type="presParOf" srcId="{1795B9E5-52DE-499F-904A-1BDE307A7427}" destId="{00F618C8-3D73-42E6-B116-CBD91DA97DF4}" srcOrd="2" destOrd="0" presId="urn:microsoft.com/office/officeart/2018/2/layout/IconLabelList"/>
    <dgm:cxn modelId="{02FDDFC5-9B5C-408F-8645-7FD97CD4DE0A}" type="presParOf" srcId="{00F618C8-3D73-42E6-B116-CBD91DA97DF4}" destId="{A636011C-5B28-4F63-A601-B6FF1B28486A}" srcOrd="0" destOrd="0" presId="urn:microsoft.com/office/officeart/2018/2/layout/IconLabelList"/>
    <dgm:cxn modelId="{E1ED9456-5E99-4427-93F5-443EC96C32E9}" type="presParOf" srcId="{00F618C8-3D73-42E6-B116-CBD91DA97DF4}" destId="{7FB76D56-EB9B-4883-8D69-5423F7402AF7}" srcOrd="1" destOrd="0" presId="urn:microsoft.com/office/officeart/2018/2/layout/IconLabelList"/>
    <dgm:cxn modelId="{E603323A-6381-4004-A7ED-3100ECAEC8CC}" type="presParOf" srcId="{00F618C8-3D73-42E6-B116-CBD91DA97DF4}" destId="{0505E9E0-DCF3-46DA-A8EB-E3711F9ACDE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D27F89-B4FF-4FC7-924F-37BEBFB6952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A82488-EB62-4E74-9291-0465601C0016}">
      <dgm:prSet/>
      <dgm:spPr/>
      <dgm:t>
        <a:bodyPr/>
        <a:lstStyle/>
        <a:p>
          <a:r>
            <a:rPr lang="en-US"/>
            <a:t>Global central bank interest rate dataset.</a:t>
          </a:r>
        </a:p>
      </dgm:t>
    </dgm:pt>
    <dgm:pt modelId="{453FD748-524D-4793-B680-914C76261367}" type="parTrans" cxnId="{12864F91-3814-4B84-8736-E4C9E6CBF5D3}">
      <dgm:prSet/>
      <dgm:spPr/>
      <dgm:t>
        <a:bodyPr/>
        <a:lstStyle/>
        <a:p>
          <a:endParaRPr lang="en-US"/>
        </a:p>
      </dgm:t>
    </dgm:pt>
    <dgm:pt modelId="{DF364F08-FB7B-4CAB-B4FE-6B76DB03B343}" type="sibTrans" cxnId="{12864F91-3814-4B84-8736-E4C9E6CBF5D3}">
      <dgm:prSet/>
      <dgm:spPr/>
      <dgm:t>
        <a:bodyPr/>
        <a:lstStyle/>
        <a:p>
          <a:endParaRPr lang="en-US"/>
        </a:p>
      </dgm:t>
    </dgm:pt>
    <dgm:pt modelId="{6209FD81-14F6-4BE7-93FA-22B29AF0C01F}">
      <dgm:prSet/>
      <dgm:spPr/>
      <dgm:t>
        <a:bodyPr/>
        <a:lstStyle/>
        <a:p>
          <a:r>
            <a:rPr lang="en-US"/>
            <a:t>Canadian macroeconomic dataset (inflation, GDP growth, unemployment).</a:t>
          </a:r>
        </a:p>
      </dgm:t>
    </dgm:pt>
    <dgm:pt modelId="{F9270FBB-7652-45E6-AE48-8BFAF3BB9BEA}" type="parTrans" cxnId="{A253A9A0-29C6-4E0A-83E3-AC60F17861CF}">
      <dgm:prSet/>
      <dgm:spPr/>
      <dgm:t>
        <a:bodyPr/>
        <a:lstStyle/>
        <a:p>
          <a:endParaRPr lang="en-US"/>
        </a:p>
      </dgm:t>
    </dgm:pt>
    <dgm:pt modelId="{C5405146-74EE-489F-8A7F-9D9D41FE2A2B}" type="sibTrans" cxnId="{A253A9A0-29C6-4E0A-83E3-AC60F17861CF}">
      <dgm:prSet/>
      <dgm:spPr/>
      <dgm:t>
        <a:bodyPr/>
        <a:lstStyle/>
        <a:p>
          <a:endParaRPr lang="en-US"/>
        </a:p>
      </dgm:t>
    </dgm:pt>
    <dgm:pt modelId="{643E32D2-EA8D-40A7-B23F-67B5B546D49F}">
      <dgm:prSet/>
      <dgm:spPr/>
      <dgm:t>
        <a:bodyPr/>
        <a:lstStyle/>
        <a:p>
          <a:r>
            <a:rPr lang="en-US"/>
            <a:t>Data combined using SQL relational tables.</a:t>
          </a:r>
        </a:p>
      </dgm:t>
    </dgm:pt>
    <dgm:pt modelId="{BC6B2338-A088-47CE-9196-4309406F0A24}" type="parTrans" cxnId="{938A7186-7D52-4E59-BB5B-233BA035A98C}">
      <dgm:prSet/>
      <dgm:spPr/>
      <dgm:t>
        <a:bodyPr/>
        <a:lstStyle/>
        <a:p>
          <a:endParaRPr lang="en-US"/>
        </a:p>
      </dgm:t>
    </dgm:pt>
    <dgm:pt modelId="{D8EE34E3-9534-49F9-AF81-C0C697BB7016}" type="sibTrans" cxnId="{938A7186-7D52-4E59-BB5B-233BA035A98C}">
      <dgm:prSet/>
      <dgm:spPr/>
      <dgm:t>
        <a:bodyPr/>
        <a:lstStyle/>
        <a:p>
          <a:endParaRPr lang="en-US"/>
        </a:p>
      </dgm:t>
    </dgm:pt>
    <dgm:pt modelId="{642D6DA3-8850-4D62-A693-E082857AFE82}" type="pres">
      <dgm:prSet presAssocID="{67D27F89-B4FF-4FC7-924F-37BEBFB695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835A17D-BB7E-4F9B-93AD-31A0D738B976}" type="pres">
      <dgm:prSet presAssocID="{CEA82488-EB62-4E74-9291-0465601C0016}" presName="hierRoot1" presStyleCnt="0"/>
      <dgm:spPr/>
    </dgm:pt>
    <dgm:pt modelId="{C2C3861B-D70B-48EF-B89E-49BB4E2B6B0F}" type="pres">
      <dgm:prSet presAssocID="{CEA82488-EB62-4E74-9291-0465601C0016}" presName="composite" presStyleCnt="0"/>
      <dgm:spPr/>
    </dgm:pt>
    <dgm:pt modelId="{9DE3FC98-4BEB-43D8-B5A8-6079843DD593}" type="pres">
      <dgm:prSet presAssocID="{CEA82488-EB62-4E74-9291-0465601C0016}" presName="background" presStyleLbl="node0" presStyleIdx="0" presStyleCnt="3"/>
      <dgm:spPr/>
    </dgm:pt>
    <dgm:pt modelId="{A439B482-C54C-4060-A26D-E4949EE1CECA}" type="pres">
      <dgm:prSet presAssocID="{CEA82488-EB62-4E74-9291-0465601C0016}" presName="text" presStyleLbl="fgAcc0" presStyleIdx="0" presStyleCnt="3">
        <dgm:presLayoutVars>
          <dgm:chPref val="3"/>
        </dgm:presLayoutVars>
      </dgm:prSet>
      <dgm:spPr/>
    </dgm:pt>
    <dgm:pt modelId="{701D13BF-1E8C-47D3-B22A-3E9B731B3BF6}" type="pres">
      <dgm:prSet presAssocID="{CEA82488-EB62-4E74-9291-0465601C0016}" presName="hierChild2" presStyleCnt="0"/>
      <dgm:spPr/>
    </dgm:pt>
    <dgm:pt modelId="{AFB83237-F9CB-4836-BBFD-D2FE2D44A0AB}" type="pres">
      <dgm:prSet presAssocID="{6209FD81-14F6-4BE7-93FA-22B29AF0C01F}" presName="hierRoot1" presStyleCnt="0"/>
      <dgm:spPr/>
    </dgm:pt>
    <dgm:pt modelId="{497C03EC-1A83-4819-96BF-F4AF2EEB555E}" type="pres">
      <dgm:prSet presAssocID="{6209FD81-14F6-4BE7-93FA-22B29AF0C01F}" presName="composite" presStyleCnt="0"/>
      <dgm:spPr/>
    </dgm:pt>
    <dgm:pt modelId="{5D4CAAFB-785C-4CAC-ACC2-72FF47B5DA3C}" type="pres">
      <dgm:prSet presAssocID="{6209FD81-14F6-4BE7-93FA-22B29AF0C01F}" presName="background" presStyleLbl="node0" presStyleIdx="1" presStyleCnt="3"/>
      <dgm:spPr/>
    </dgm:pt>
    <dgm:pt modelId="{F206518E-9764-4361-B248-FE45E82FF891}" type="pres">
      <dgm:prSet presAssocID="{6209FD81-14F6-4BE7-93FA-22B29AF0C01F}" presName="text" presStyleLbl="fgAcc0" presStyleIdx="1" presStyleCnt="3">
        <dgm:presLayoutVars>
          <dgm:chPref val="3"/>
        </dgm:presLayoutVars>
      </dgm:prSet>
      <dgm:spPr/>
    </dgm:pt>
    <dgm:pt modelId="{0ABF22AD-597C-482B-88E2-5028293220FC}" type="pres">
      <dgm:prSet presAssocID="{6209FD81-14F6-4BE7-93FA-22B29AF0C01F}" presName="hierChild2" presStyleCnt="0"/>
      <dgm:spPr/>
    </dgm:pt>
    <dgm:pt modelId="{969294F7-E4CB-45C3-A3F7-1FEC370388A7}" type="pres">
      <dgm:prSet presAssocID="{643E32D2-EA8D-40A7-B23F-67B5B546D49F}" presName="hierRoot1" presStyleCnt="0"/>
      <dgm:spPr/>
    </dgm:pt>
    <dgm:pt modelId="{71DB456C-89AC-43CA-A34F-0F6B4A382A75}" type="pres">
      <dgm:prSet presAssocID="{643E32D2-EA8D-40A7-B23F-67B5B546D49F}" presName="composite" presStyleCnt="0"/>
      <dgm:spPr/>
    </dgm:pt>
    <dgm:pt modelId="{124C69DD-019D-454D-85E7-5B0274C4AC95}" type="pres">
      <dgm:prSet presAssocID="{643E32D2-EA8D-40A7-B23F-67B5B546D49F}" presName="background" presStyleLbl="node0" presStyleIdx="2" presStyleCnt="3"/>
      <dgm:spPr/>
    </dgm:pt>
    <dgm:pt modelId="{DF05E436-2427-4423-8451-4ECB2FCF2323}" type="pres">
      <dgm:prSet presAssocID="{643E32D2-EA8D-40A7-B23F-67B5B546D49F}" presName="text" presStyleLbl="fgAcc0" presStyleIdx="2" presStyleCnt="3">
        <dgm:presLayoutVars>
          <dgm:chPref val="3"/>
        </dgm:presLayoutVars>
      </dgm:prSet>
      <dgm:spPr/>
    </dgm:pt>
    <dgm:pt modelId="{75C43D87-174A-4B04-AB89-1043A99907AB}" type="pres">
      <dgm:prSet presAssocID="{643E32D2-EA8D-40A7-B23F-67B5B546D49F}" presName="hierChild2" presStyleCnt="0"/>
      <dgm:spPr/>
    </dgm:pt>
  </dgm:ptLst>
  <dgm:cxnLst>
    <dgm:cxn modelId="{13150435-496E-42A4-BD18-4C7E850A46FC}" type="presOf" srcId="{643E32D2-EA8D-40A7-B23F-67B5B546D49F}" destId="{DF05E436-2427-4423-8451-4ECB2FCF2323}" srcOrd="0" destOrd="0" presId="urn:microsoft.com/office/officeart/2005/8/layout/hierarchy1"/>
    <dgm:cxn modelId="{938A7186-7D52-4E59-BB5B-233BA035A98C}" srcId="{67D27F89-B4FF-4FC7-924F-37BEBFB69526}" destId="{643E32D2-EA8D-40A7-B23F-67B5B546D49F}" srcOrd="2" destOrd="0" parTransId="{BC6B2338-A088-47CE-9196-4309406F0A24}" sibTransId="{D8EE34E3-9534-49F9-AF81-C0C697BB7016}"/>
    <dgm:cxn modelId="{12864F91-3814-4B84-8736-E4C9E6CBF5D3}" srcId="{67D27F89-B4FF-4FC7-924F-37BEBFB69526}" destId="{CEA82488-EB62-4E74-9291-0465601C0016}" srcOrd="0" destOrd="0" parTransId="{453FD748-524D-4793-B680-914C76261367}" sibTransId="{DF364F08-FB7B-4CAB-B4FE-6B76DB03B343}"/>
    <dgm:cxn modelId="{A253A9A0-29C6-4E0A-83E3-AC60F17861CF}" srcId="{67D27F89-B4FF-4FC7-924F-37BEBFB69526}" destId="{6209FD81-14F6-4BE7-93FA-22B29AF0C01F}" srcOrd="1" destOrd="0" parTransId="{F9270FBB-7652-45E6-AE48-8BFAF3BB9BEA}" sibTransId="{C5405146-74EE-489F-8A7F-9D9D41FE2A2B}"/>
    <dgm:cxn modelId="{1004CEB0-3C95-470C-B53A-B1ECAB49BA9E}" type="presOf" srcId="{6209FD81-14F6-4BE7-93FA-22B29AF0C01F}" destId="{F206518E-9764-4361-B248-FE45E82FF891}" srcOrd="0" destOrd="0" presId="urn:microsoft.com/office/officeart/2005/8/layout/hierarchy1"/>
    <dgm:cxn modelId="{1A3E7EB6-2F4C-4833-9329-D70187AD5593}" type="presOf" srcId="{CEA82488-EB62-4E74-9291-0465601C0016}" destId="{A439B482-C54C-4060-A26D-E4949EE1CECA}" srcOrd="0" destOrd="0" presId="urn:microsoft.com/office/officeart/2005/8/layout/hierarchy1"/>
    <dgm:cxn modelId="{C4FC64C6-47C8-4758-B3B5-49087B0CEEA3}" type="presOf" srcId="{67D27F89-B4FF-4FC7-924F-37BEBFB69526}" destId="{642D6DA3-8850-4D62-A693-E082857AFE82}" srcOrd="0" destOrd="0" presId="urn:microsoft.com/office/officeart/2005/8/layout/hierarchy1"/>
    <dgm:cxn modelId="{FD6D7EE7-4734-4285-896B-392897E4D59A}" type="presParOf" srcId="{642D6DA3-8850-4D62-A693-E082857AFE82}" destId="{0835A17D-BB7E-4F9B-93AD-31A0D738B976}" srcOrd="0" destOrd="0" presId="urn:microsoft.com/office/officeart/2005/8/layout/hierarchy1"/>
    <dgm:cxn modelId="{66AB2C0E-AFAE-4562-BEB3-B9B505BEF254}" type="presParOf" srcId="{0835A17D-BB7E-4F9B-93AD-31A0D738B976}" destId="{C2C3861B-D70B-48EF-B89E-49BB4E2B6B0F}" srcOrd="0" destOrd="0" presId="urn:microsoft.com/office/officeart/2005/8/layout/hierarchy1"/>
    <dgm:cxn modelId="{5E835FC7-0BA5-4901-8199-685BBB9E72CE}" type="presParOf" srcId="{C2C3861B-D70B-48EF-B89E-49BB4E2B6B0F}" destId="{9DE3FC98-4BEB-43D8-B5A8-6079843DD593}" srcOrd="0" destOrd="0" presId="urn:microsoft.com/office/officeart/2005/8/layout/hierarchy1"/>
    <dgm:cxn modelId="{559CD36C-DBBD-4F27-9A08-FF4E41F0E10D}" type="presParOf" srcId="{C2C3861B-D70B-48EF-B89E-49BB4E2B6B0F}" destId="{A439B482-C54C-4060-A26D-E4949EE1CECA}" srcOrd="1" destOrd="0" presId="urn:microsoft.com/office/officeart/2005/8/layout/hierarchy1"/>
    <dgm:cxn modelId="{8972414A-0034-47C7-B124-9696FBC2E950}" type="presParOf" srcId="{0835A17D-BB7E-4F9B-93AD-31A0D738B976}" destId="{701D13BF-1E8C-47D3-B22A-3E9B731B3BF6}" srcOrd="1" destOrd="0" presId="urn:microsoft.com/office/officeart/2005/8/layout/hierarchy1"/>
    <dgm:cxn modelId="{ABA3EBA4-BAFC-4D30-A393-B967584A851D}" type="presParOf" srcId="{642D6DA3-8850-4D62-A693-E082857AFE82}" destId="{AFB83237-F9CB-4836-BBFD-D2FE2D44A0AB}" srcOrd="1" destOrd="0" presId="urn:microsoft.com/office/officeart/2005/8/layout/hierarchy1"/>
    <dgm:cxn modelId="{D20B988D-5984-4F2E-8A75-BD34BB893C4E}" type="presParOf" srcId="{AFB83237-F9CB-4836-BBFD-D2FE2D44A0AB}" destId="{497C03EC-1A83-4819-96BF-F4AF2EEB555E}" srcOrd="0" destOrd="0" presId="urn:microsoft.com/office/officeart/2005/8/layout/hierarchy1"/>
    <dgm:cxn modelId="{EFC0316E-CEB2-4D50-AA21-C7EF67EF934D}" type="presParOf" srcId="{497C03EC-1A83-4819-96BF-F4AF2EEB555E}" destId="{5D4CAAFB-785C-4CAC-ACC2-72FF47B5DA3C}" srcOrd="0" destOrd="0" presId="urn:microsoft.com/office/officeart/2005/8/layout/hierarchy1"/>
    <dgm:cxn modelId="{9C1B4A94-CD2C-4586-8DF2-73594972C099}" type="presParOf" srcId="{497C03EC-1A83-4819-96BF-F4AF2EEB555E}" destId="{F206518E-9764-4361-B248-FE45E82FF891}" srcOrd="1" destOrd="0" presId="urn:microsoft.com/office/officeart/2005/8/layout/hierarchy1"/>
    <dgm:cxn modelId="{D5B0F9E1-360E-4A11-ADE6-3078F5A4ED7F}" type="presParOf" srcId="{AFB83237-F9CB-4836-BBFD-D2FE2D44A0AB}" destId="{0ABF22AD-597C-482B-88E2-5028293220FC}" srcOrd="1" destOrd="0" presId="urn:microsoft.com/office/officeart/2005/8/layout/hierarchy1"/>
    <dgm:cxn modelId="{391ABDE7-30C2-487D-857D-484D4832CEF8}" type="presParOf" srcId="{642D6DA3-8850-4D62-A693-E082857AFE82}" destId="{969294F7-E4CB-45C3-A3F7-1FEC370388A7}" srcOrd="2" destOrd="0" presId="urn:microsoft.com/office/officeart/2005/8/layout/hierarchy1"/>
    <dgm:cxn modelId="{5EA57357-9F6E-48A9-8BF8-112E16062D9C}" type="presParOf" srcId="{969294F7-E4CB-45C3-A3F7-1FEC370388A7}" destId="{71DB456C-89AC-43CA-A34F-0F6B4A382A75}" srcOrd="0" destOrd="0" presId="urn:microsoft.com/office/officeart/2005/8/layout/hierarchy1"/>
    <dgm:cxn modelId="{2E3920BB-DA28-41F5-9D53-E4E2A1DFFE82}" type="presParOf" srcId="{71DB456C-89AC-43CA-A34F-0F6B4A382A75}" destId="{124C69DD-019D-454D-85E7-5B0274C4AC95}" srcOrd="0" destOrd="0" presId="urn:microsoft.com/office/officeart/2005/8/layout/hierarchy1"/>
    <dgm:cxn modelId="{2BC4FF52-0AB6-4867-A57D-791EE85B3572}" type="presParOf" srcId="{71DB456C-89AC-43CA-A34F-0F6B4A382A75}" destId="{DF05E436-2427-4423-8451-4ECB2FCF2323}" srcOrd="1" destOrd="0" presId="urn:microsoft.com/office/officeart/2005/8/layout/hierarchy1"/>
    <dgm:cxn modelId="{7F4349BA-EB74-4D57-BD1B-50B250EB9401}" type="presParOf" srcId="{969294F7-E4CB-45C3-A3F7-1FEC370388A7}" destId="{75C43D87-174A-4B04-AB89-1043A99907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ACDD0A-0EAA-4912-BB8A-F8D3C7D4985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ADF13B7-05A2-4D04-B754-857CDC091FC1}">
      <dgm:prSet/>
      <dgm:spPr/>
      <dgm:t>
        <a:bodyPr/>
        <a:lstStyle/>
        <a:p>
          <a:r>
            <a:rPr lang="en-US"/>
            <a:t>Global interest rates declined after the 1980s before rising again post‑2022.</a:t>
          </a:r>
        </a:p>
      </dgm:t>
    </dgm:pt>
    <dgm:pt modelId="{768543CF-11E6-45FA-8ADA-F19C0A85D737}" type="parTrans" cxnId="{5B08E4C2-912A-40ED-8C94-E01D5AB56094}">
      <dgm:prSet/>
      <dgm:spPr/>
      <dgm:t>
        <a:bodyPr/>
        <a:lstStyle/>
        <a:p>
          <a:endParaRPr lang="en-US"/>
        </a:p>
      </dgm:t>
    </dgm:pt>
    <dgm:pt modelId="{87AAA76E-3766-40F7-B1F6-AEBFD9D5ACF5}" type="sibTrans" cxnId="{5B08E4C2-912A-40ED-8C94-E01D5AB56094}">
      <dgm:prSet/>
      <dgm:spPr/>
      <dgm:t>
        <a:bodyPr/>
        <a:lstStyle/>
        <a:p>
          <a:endParaRPr lang="en-US"/>
        </a:p>
      </dgm:t>
    </dgm:pt>
    <dgm:pt modelId="{CF5E8F60-A598-417B-B17D-1D727699BF06}">
      <dgm:prSet/>
      <dgm:spPr/>
      <dgm:t>
        <a:bodyPr/>
        <a:lstStyle/>
        <a:p>
          <a:r>
            <a:rPr lang="en-US"/>
            <a:t>Central banks often synchronize policy during economic crises.</a:t>
          </a:r>
        </a:p>
      </dgm:t>
    </dgm:pt>
    <dgm:pt modelId="{D7A43842-3970-4DD6-BF57-9F8FB7D35193}" type="parTrans" cxnId="{599C6D2A-DBB2-450B-959B-F1AE6D9363AE}">
      <dgm:prSet/>
      <dgm:spPr/>
      <dgm:t>
        <a:bodyPr/>
        <a:lstStyle/>
        <a:p>
          <a:endParaRPr lang="en-US"/>
        </a:p>
      </dgm:t>
    </dgm:pt>
    <dgm:pt modelId="{4CE2E7DE-53F4-4854-9928-187031C34BCE}" type="sibTrans" cxnId="{599C6D2A-DBB2-450B-959B-F1AE6D9363AE}">
      <dgm:prSet/>
      <dgm:spPr/>
      <dgm:t>
        <a:bodyPr/>
        <a:lstStyle/>
        <a:p>
          <a:endParaRPr lang="en-US"/>
        </a:p>
      </dgm:t>
    </dgm:pt>
    <dgm:pt modelId="{7BED3D5B-8AF7-4726-B6CC-7B4ED630C0AD}">
      <dgm:prSet/>
      <dgm:spPr/>
      <dgm:t>
        <a:bodyPr/>
        <a:lstStyle/>
        <a:p>
          <a:r>
            <a:rPr lang="en-US"/>
            <a:t>Canada shows partial alignment with U.S. Federal Reserve decisions.</a:t>
          </a:r>
        </a:p>
      </dgm:t>
    </dgm:pt>
    <dgm:pt modelId="{36CA0213-EADB-4C08-818D-3FADDAD3DF8F}" type="parTrans" cxnId="{56859FE1-C441-482D-AF06-E0F841CC6420}">
      <dgm:prSet/>
      <dgm:spPr/>
      <dgm:t>
        <a:bodyPr/>
        <a:lstStyle/>
        <a:p>
          <a:endParaRPr lang="en-US"/>
        </a:p>
      </dgm:t>
    </dgm:pt>
    <dgm:pt modelId="{11CEBF2C-26DC-4EB9-91C4-16C3BACBC6A7}" type="sibTrans" cxnId="{56859FE1-C441-482D-AF06-E0F841CC6420}">
      <dgm:prSet/>
      <dgm:spPr/>
      <dgm:t>
        <a:bodyPr/>
        <a:lstStyle/>
        <a:p>
          <a:endParaRPr lang="en-US"/>
        </a:p>
      </dgm:t>
    </dgm:pt>
    <dgm:pt modelId="{6487C0A3-E2AE-4DFE-BBC2-2D15345FD6AC}" type="pres">
      <dgm:prSet presAssocID="{A2ACDD0A-0EAA-4912-BB8A-F8D3C7D4985A}" presName="root" presStyleCnt="0">
        <dgm:presLayoutVars>
          <dgm:dir/>
          <dgm:resizeHandles val="exact"/>
        </dgm:presLayoutVars>
      </dgm:prSet>
      <dgm:spPr/>
    </dgm:pt>
    <dgm:pt modelId="{B4BE3561-6993-4286-9868-0E89D7486053}" type="pres">
      <dgm:prSet presAssocID="{FADF13B7-05A2-4D04-B754-857CDC091FC1}" presName="compNode" presStyleCnt="0"/>
      <dgm:spPr/>
    </dgm:pt>
    <dgm:pt modelId="{EEB9FD2C-7E87-45F8-B6CA-0E67FE8219F7}" type="pres">
      <dgm:prSet presAssocID="{FADF13B7-05A2-4D04-B754-857CDC091FC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094578D-E571-41BC-B56C-AFC060D21A84}" type="pres">
      <dgm:prSet presAssocID="{FADF13B7-05A2-4D04-B754-857CDC091FC1}" presName="spaceRect" presStyleCnt="0"/>
      <dgm:spPr/>
    </dgm:pt>
    <dgm:pt modelId="{063CA23E-9435-4DDC-AC40-88CBBE2E40B5}" type="pres">
      <dgm:prSet presAssocID="{FADF13B7-05A2-4D04-B754-857CDC091FC1}" presName="textRect" presStyleLbl="revTx" presStyleIdx="0" presStyleCnt="3">
        <dgm:presLayoutVars>
          <dgm:chMax val="1"/>
          <dgm:chPref val="1"/>
        </dgm:presLayoutVars>
      </dgm:prSet>
      <dgm:spPr/>
    </dgm:pt>
    <dgm:pt modelId="{3552BBC4-4BC9-4B24-B90F-820FE831EEC2}" type="pres">
      <dgm:prSet presAssocID="{87AAA76E-3766-40F7-B1F6-AEBFD9D5ACF5}" presName="sibTrans" presStyleCnt="0"/>
      <dgm:spPr/>
    </dgm:pt>
    <dgm:pt modelId="{CA6DA1E4-BD19-4164-B3EF-4BAE461173E6}" type="pres">
      <dgm:prSet presAssocID="{CF5E8F60-A598-417B-B17D-1D727699BF06}" presName="compNode" presStyleCnt="0"/>
      <dgm:spPr/>
    </dgm:pt>
    <dgm:pt modelId="{1B0D6CE2-A816-4182-AD8E-A3454FC49D6F}" type="pres">
      <dgm:prSet presAssocID="{CF5E8F60-A598-417B-B17D-1D727699BF0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B416B7F-92D8-4C0B-B6C8-25A3138927B8}" type="pres">
      <dgm:prSet presAssocID="{CF5E8F60-A598-417B-B17D-1D727699BF06}" presName="spaceRect" presStyleCnt="0"/>
      <dgm:spPr/>
    </dgm:pt>
    <dgm:pt modelId="{F20B5E15-83A6-45B0-AA73-7D179EDEB084}" type="pres">
      <dgm:prSet presAssocID="{CF5E8F60-A598-417B-B17D-1D727699BF06}" presName="textRect" presStyleLbl="revTx" presStyleIdx="1" presStyleCnt="3">
        <dgm:presLayoutVars>
          <dgm:chMax val="1"/>
          <dgm:chPref val="1"/>
        </dgm:presLayoutVars>
      </dgm:prSet>
      <dgm:spPr/>
    </dgm:pt>
    <dgm:pt modelId="{0FEC8BEC-E568-497D-9A18-5B70D6539ED3}" type="pres">
      <dgm:prSet presAssocID="{4CE2E7DE-53F4-4854-9928-187031C34BCE}" presName="sibTrans" presStyleCnt="0"/>
      <dgm:spPr/>
    </dgm:pt>
    <dgm:pt modelId="{AC7BF6FA-1C4C-40E6-93A1-F28D3BEA4097}" type="pres">
      <dgm:prSet presAssocID="{7BED3D5B-8AF7-4726-B6CC-7B4ED630C0AD}" presName="compNode" presStyleCnt="0"/>
      <dgm:spPr/>
    </dgm:pt>
    <dgm:pt modelId="{7497259F-5869-41D1-8EE7-0C6E35FBF9B9}" type="pres">
      <dgm:prSet presAssocID="{7BED3D5B-8AF7-4726-B6CC-7B4ED630C0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DB5D00C1-5E37-44A6-A164-1FA117A21FA2}" type="pres">
      <dgm:prSet presAssocID="{7BED3D5B-8AF7-4726-B6CC-7B4ED630C0AD}" presName="spaceRect" presStyleCnt="0"/>
      <dgm:spPr/>
    </dgm:pt>
    <dgm:pt modelId="{A69DE94C-DEEC-4CF2-83B4-BADF97AD115D}" type="pres">
      <dgm:prSet presAssocID="{7BED3D5B-8AF7-4726-B6CC-7B4ED630C0A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99C6D2A-DBB2-450B-959B-F1AE6D9363AE}" srcId="{A2ACDD0A-0EAA-4912-BB8A-F8D3C7D4985A}" destId="{CF5E8F60-A598-417B-B17D-1D727699BF06}" srcOrd="1" destOrd="0" parTransId="{D7A43842-3970-4DD6-BF57-9F8FB7D35193}" sibTransId="{4CE2E7DE-53F4-4854-9928-187031C34BCE}"/>
    <dgm:cxn modelId="{DC68F82B-9AD4-4B06-B4E1-48C4E3415001}" type="presOf" srcId="{FADF13B7-05A2-4D04-B754-857CDC091FC1}" destId="{063CA23E-9435-4DDC-AC40-88CBBE2E40B5}" srcOrd="0" destOrd="0" presId="urn:microsoft.com/office/officeart/2018/2/layout/IconLabelList"/>
    <dgm:cxn modelId="{62076855-5F07-47BE-BBC2-AE694A0AB819}" type="presOf" srcId="{7BED3D5B-8AF7-4726-B6CC-7B4ED630C0AD}" destId="{A69DE94C-DEEC-4CF2-83B4-BADF97AD115D}" srcOrd="0" destOrd="0" presId="urn:microsoft.com/office/officeart/2018/2/layout/IconLabelList"/>
    <dgm:cxn modelId="{E47476AE-10B4-46BD-8D9A-54928BEC7B9D}" type="presOf" srcId="{A2ACDD0A-0EAA-4912-BB8A-F8D3C7D4985A}" destId="{6487C0A3-E2AE-4DFE-BBC2-2D15345FD6AC}" srcOrd="0" destOrd="0" presId="urn:microsoft.com/office/officeart/2018/2/layout/IconLabelList"/>
    <dgm:cxn modelId="{5B08E4C2-912A-40ED-8C94-E01D5AB56094}" srcId="{A2ACDD0A-0EAA-4912-BB8A-F8D3C7D4985A}" destId="{FADF13B7-05A2-4D04-B754-857CDC091FC1}" srcOrd="0" destOrd="0" parTransId="{768543CF-11E6-45FA-8ADA-F19C0A85D737}" sibTransId="{87AAA76E-3766-40F7-B1F6-AEBFD9D5ACF5}"/>
    <dgm:cxn modelId="{56859FE1-C441-482D-AF06-E0F841CC6420}" srcId="{A2ACDD0A-0EAA-4912-BB8A-F8D3C7D4985A}" destId="{7BED3D5B-8AF7-4726-B6CC-7B4ED630C0AD}" srcOrd="2" destOrd="0" parTransId="{36CA0213-EADB-4C08-818D-3FADDAD3DF8F}" sibTransId="{11CEBF2C-26DC-4EB9-91C4-16C3BACBC6A7}"/>
    <dgm:cxn modelId="{D19484E3-03CF-468A-8474-113042190CFE}" type="presOf" srcId="{CF5E8F60-A598-417B-B17D-1D727699BF06}" destId="{F20B5E15-83A6-45B0-AA73-7D179EDEB084}" srcOrd="0" destOrd="0" presId="urn:microsoft.com/office/officeart/2018/2/layout/IconLabelList"/>
    <dgm:cxn modelId="{6E9A3423-348C-4309-8E87-F8ADDEEB6D1B}" type="presParOf" srcId="{6487C0A3-E2AE-4DFE-BBC2-2D15345FD6AC}" destId="{B4BE3561-6993-4286-9868-0E89D7486053}" srcOrd="0" destOrd="0" presId="urn:microsoft.com/office/officeart/2018/2/layout/IconLabelList"/>
    <dgm:cxn modelId="{9F928BA6-B358-4B96-9B6C-EF32B9CF7B1B}" type="presParOf" srcId="{B4BE3561-6993-4286-9868-0E89D7486053}" destId="{EEB9FD2C-7E87-45F8-B6CA-0E67FE8219F7}" srcOrd="0" destOrd="0" presId="urn:microsoft.com/office/officeart/2018/2/layout/IconLabelList"/>
    <dgm:cxn modelId="{396A53EB-8B0F-4E78-92B2-CFC1048E93D2}" type="presParOf" srcId="{B4BE3561-6993-4286-9868-0E89D7486053}" destId="{E094578D-E571-41BC-B56C-AFC060D21A84}" srcOrd="1" destOrd="0" presId="urn:microsoft.com/office/officeart/2018/2/layout/IconLabelList"/>
    <dgm:cxn modelId="{CC9C899E-D37B-4364-8FBC-4BF95A33C3A5}" type="presParOf" srcId="{B4BE3561-6993-4286-9868-0E89D7486053}" destId="{063CA23E-9435-4DDC-AC40-88CBBE2E40B5}" srcOrd="2" destOrd="0" presId="urn:microsoft.com/office/officeart/2018/2/layout/IconLabelList"/>
    <dgm:cxn modelId="{6263C6D2-13F0-43A6-8445-59EE5727BF50}" type="presParOf" srcId="{6487C0A3-E2AE-4DFE-BBC2-2D15345FD6AC}" destId="{3552BBC4-4BC9-4B24-B90F-820FE831EEC2}" srcOrd="1" destOrd="0" presId="urn:microsoft.com/office/officeart/2018/2/layout/IconLabelList"/>
    <dgm:cxn modelId="{14FEF60E-116D-4E03-AF07-51376AAD4B3A}" type="presParOf" srcId="{6487C0A3-E2AE-4DFE-BBC2-2D15345FD6AC}" destId="{CA6DA1E4-BD19-4164-B3EF-4BAE461173E6}" srcOrd="2" destOrd="0" presId="urn:microsoft.com/office/officeart/2018/2/layout/IconLabelList"/>
    <dgm:cxn modelId="{CF8EE462-AE04-4B0D-927F-596A30EC1904}" type="presParOf" srcId="{CA6DA1E4-BD19-4164-B3EF-4BAE461173E6}" destId="{1B0D6CE2-A816-4182-AD8E-A3454FC49D6F}" srcOrd="0" destOrd="0" presId="urn:microsoft.com/office/officeart/2018/2/layout/IconLabelList"/>
    <dgm:cxn modelId="{7708D904-74ED-4F2A-AD4C-5D9C51EDB129}" type="presParOf" srcId="{CA6DA1E4-BD19-4164-B3EF-4BAE461173E6}" destId="{0B416B7F-92D8-4C0B-B6C8-25A3138927B8}" srcOrd="1" destOrd="0" presId="urn:microsoft.com/office/officeart/2018/2/layout/IconLabelList"/>
    <dgm:cxn modelId="{4DF15EB7-A340-4906-82FC-973FC00416E3}" type="presParOf" srcId="{CA6DA1E4-BD19-4164-B3EF-4BAE461173E6}" destId="{F20B5E15-83A6-45B0-AA73-7D179EDEB084}" srcOrd="2" destOrd="0" presId="urn:microsoft.com/office/officeart/2018/2/layout/IconLabelList"/>
    <dgm:cxn modelId="{209F0F56-4402-4C16-A73D-CCC6F465ABE8}" type="presParOf" srcId="{6487C0A3-E2AE-4DFE-BBC2-2D15345FD6AC}" destId="{0FEC8BEC-E568-497D-9A18-5B70D6539ED3}" srcOrd="3" destOrd="0" presId="urn:microsoft.com/office/officeart/2018/2/layout/IconLabelList"/>
    <dgm:cxn modelId="{3018630F-692D-482B-88AE-3384E6101CAB}" type="presParOf" srcId="{6487C0A3-E2AE-4DFE-BBC2-2D15345FD6AC}" destId="{AC7BF6FA-1C4C-40E6-93A1-F28D3BEA4097}" srcOrd="4" destOrd="0" presId="urn:microsoft.com/office/officeart/2018/2/layout/IconLabelList"/>
    <dgm:cxn modelId="{5D84750E-09D4-42BB-9D6A-9F2A1BFB048F}" type="presParOf" srcId="{AC7BF6FA-1C4C-40E6-93A1-F28D3BEA4097}" destId="{7497259F-5869-41D1-8EE7-0C6E35FBF9B9}" srcOrd="0" destOrd="0" presId="urn:microsoft.com/office/officeart/2018/2/layout/IconLabelList"/>
    <dgm:cxn modelId="{AA614A08-E49D-490F-AB38-B3FD9EA0191C}" type="presParOf" srcId="{AC7BF6FA-1C4C-40E6-93A1-F28D3BEA4097}" destId="{DB5D00C1-5E37-44A6-A164-1FA117A21FA2}" srcOrd="1" destOrd="0" presId="urn:microsoft.com/office/officeart/2018/2/layout/IconLabelList"/>
    <dgm:cxn modelId="{8F729CD8-C6C3-4458-9C62-6B29C02C0830}" type="presParOf" srcId="{AC7BF6FA-1C4C-40E6-93A1-F28D3BEA4097}" destId="{A69DE94C-DEEC-4CF2-83B4-BADF97AD115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BA538-0D24-4DD5-8F76-6914D5B72D48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C01E7-1B86-44DA-92DA-424C3F42B341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Analyze how interest rates affect inflation, GDP growth, and unemployment in Canada.</a:t>
          </a:r>
        </a:p>
      </dsp:txBody>
      <dsp:txXfrm>
        <a:off x="78583" y="2435142"/>
        <a:ext cx="2399612" cy="720000"/>
      </dsp:txXfrm>
    </dsp:sp>
    <dsp:sp modelId="{C9B951DE-8637-48FE-A8AB-A15C8A242EAC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D1576-25EA-4F69-BB2E-87005CA0DE78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Compare Bank of Canada monetary policy with global central banks.</a:t>
          </a:r>
        </a:p>
      </dsp:txBody>
      <dsp:txXfrm>
        <a:off x="2898129" y="2435142"/>
        <a:ext cx="2399612" cy="720000"/>
      </dsp:txXfrm>
    </dsp:sp>
    <dsp:sp modelId="{E3247B38-9F68-40BD-8E75-44B76A0F2072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72637-8FA0-4AF6-AC61-CCDD5404BB58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Time period analyzed: 1980–2025.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88995B-9D9A-43E6-BB12-5C3F9D3475A1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92ED4-D806-483B-BF68-59AA532E7C8C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do interest rate changes influence inflation, GDP growth, and unemployment in Canada?</a:t>
          </a:r>
        </a:p>
      </dsp:txBody>
      <dsp:txXfrm>
        <a:off x="85060" y="2776702"/>
        <a:ext cx="3690000" cy="720000"/>
      </dsp:txXfrm>
    </dsp:sp>
    <dsp:sp modelId="{A636011C-5B28-4F63-A601-B6FF1B28486A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5E9E0-DCF3-46DA-A8EB-E3711F9ACDE2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closely does Canadian monetary policy follow U.S. Federal Reserve trends?</a:t>
          </a:r>
        </a:p>
      </dsp:txBody>
      <dsp:txXfrm>
        <a:off x="4420810" y="2776702"/>
        <a:ext cx="369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3FC98-4BEB-43D8-B5A8-6079843DD593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39B482-C54C-4060-A26D-E4949EE1CECA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Global central bank interest rate dataset.</a:t>
          </a:r>
        </a:p>
      </dsp:txBody>
      <dsp:txXfrm>
        <a:off x="298991" y="1277365"/>
        <a:ext cx="2219346" cy="1377989"/>
      </dsp:txXfrm>
    </dsp:sp>
    <dsp:sp modelId="{5D4CAAFB-785C-4CAC-ACC2-72FF47B5DA3C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6518E-9764-4361-B248-FE45E82FF891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Canadian macroeconomic dataset (inflation, GDP growth, unemployment).</a:t>
          </a:r>
        </a:p>
      </dsp:txBody>
      <dsp:txXfrm>
        <a:off x="3116322" y="1277365"/>
        <a:ext cx="2219346" cy="1377989"/>
      </dsp:txXfrm>
    </dsp:sp>
    <dsp:sp modelId="{124C69DD-019D-454D-85E7-5B0274C4AC95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5E436-2427-4423-8451-4ECB2FCF2323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combined using SQL relational tables.</a:t>
          </a:r>
        </a:p>
      </dsp:txBody>
      <dsp:txXfrm>
        <a:off x="5933653" y="1277365"/>
        <a:ext cx="2219346" cy="1377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B9FD2C-7E87-45F8-B6CA-0E67FE8219F7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CA23E-9435-4DDC-AC40-88CBBE2E40B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Global interest rates declined after the 1980s before rising again post‑2022.</a:t>
          </a:r>
        </a:p>
      </dsp:txBody>
      <dsp:txXfrm>
        <a:off x="78583" y="2435142"/>
        <a:ext cx="2399612" cy="720000"/>
      </dsp:txXfrm>
    </dsp:sp>
    <dsp:sp modelId="{1B0D6CE2-A816-4182-AD8E-A3454FC49D6F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B5E15-83A6-45B0-AA73-7D179EDEB084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Central banks often synchronize policy during economic crises.</a:t>
          </a:r>
        </a:p>
      </dsp:txBody>
      <dsp:txXfrm>
        <a:off x="2898129" y="2435142"/>
        <a:ext cx="2399612" cy="720000"/>
      </dsp:txXfrm>
    </dsp:sp>
    <dsp:sp modelId="{7497259F-5869-41D1-8EE7-0C6E35FBF9B9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DE94C-DEEC-4CF2-83B4-BADF97AD115D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Canada shows partial alignment with U.S. Federal Reserve decisions.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767" y="0"/>
            <a:ext cx="9170066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19877" y="-988420"/>
            <a:ext cx="6859919" cy="883292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767" y="-864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252763" y="1649137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9166299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405630" y="-1353130"/>
            <a:ext cx="6407535" cy="9113803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83340" y="3006586"/>
            <a:ext cx="5463701" cy="2732297"/>
          </a:xfrm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Global Monetary Regimes &amp; Canadian Monetary Policy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83340" y="667911"/>
            <a:ext cx="5066732" cy="1296368"/>
          </a:xfrm>
        </p:spPr>
        <p:txBody>
          <a:bodyPr anchor="b">
            <a:normAutofit/>
          </a:bodyPr>
          <a:lstStyle/>
          <a:p>
            <a:pPr algn="l"/>
            <a:r>
              <a:rPr lang="en-CA">
                <a:solidFill>
                  <a:srgbClr val="FFFFFF"/>
                </a:solidFill>
              </a:rPr>
              <a:t>Data Analysis </a:t>
            </a:r>
          </a:p>
          <a:p>
            <a:pPr algn="l"/>
            <a:r>
              <a:rPr lang="en-CA">
                <a:solidFill>
                  <a:srgbClr val="FFFFFF"/>
                </a:solidFill>
              </a:rPr>
              <a:t>Emilomo Joan Atale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EB2D69-3D8B-EEFC-7137-F46D8F6786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89584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Research Question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7BA64A-4E90-74C5-023E-AA5F45B247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16662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Data 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8D4C6D-AF6A-DB0B-D053-BDE79FB920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57942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CA" sz="1700"/>
          </a:p>
          <a:p>
            <a:r>
              <a:rPr lang="en-CA" sz="1700"/>
              <a:t>Excel – Data Cleaning and Wrangling </a:t>
            </a:r>
          </a:p>
          <a:p>
            <a:r>
              <a:rPr lang="en-CA" sz="1700"/>
              <a:t>SQL Server – database storage and querying.</a:t>
            </a:r>
          </a:p>
          <a:p>
            <a:r>
              <a:rPr lang="en-CA" sz="1700"/>
              <a:t>SQL – data aggregation and transformation.</a:t>
            </a:r>
          </a:p>
          <a:p>
            <a:r>
              <a:rPr lang="en-CA" sz="1700"/>
              <a:t>Python (Pandas, Matplotlib) – analysis and visualization.</a:t>
            </a:r>
          </a:p>
          <a:p>
            <a:r>
              <a:rPr lang="en-CA" sz="1700"/>
              <a:t>Power BI – interactive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Data Preparation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Standardized time-series data from 1980–2025.</a:t>
            </a:r>
          </a:p>
          <a:p>
            <a:r>
              <a:rPr lang="en-US" sz="1700"/>
              <a:t>Aggregated data into yearly averages.</a:t>
            </a:r>
          </a:p>
          <a:p>
            <a:r>
              <a:rPr lang="en-US" sz="1700"/>
              <a:t>Aligned macroeconomic indicators with interest rate data.</a:t>
            </a:r>
          </a:p>
          <a:p>
            <a:r>
              <a:rPr lang="en-US" sz="1700"/>
              <a:t>Classified policy regimes: High (&gt;6%), Moderate (2–6%), Low (&lt;2%).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Interest rate regime classification using SQL CASE statements.</a:t>
            </a:r>
          </a:p>
          <a:p>
            <a:r>
              <a:rPr lang="en-US" sz="1700"/>
              <a:t>Volatility analysis using statistical measures.</a:t>
            </a:r>
          </a:p>
          <a:p>
            <a:r>
              <a:rPr lang="en-US" sz="1700"/>
              <a:t>Policy change tracking using SQL window functions (LAG).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Interest Rate vs Inflation trends.</a:t>
            </a:r>
          </a:p>
          <a:p>
            <a:r>
              <a:rPr lang="en-US" sz="1700"/>
              <a:t>Interest Rate vs GDP Growth.</a:t>
            </a:r>
          </a:p>
          <a:p>
            <a:r>
              <a:rPr lang="en-US" sz="1700"/>
              <a:t>Interest Rate vs Unemployment.</a:t>
            </a:r>
          </a:p>
          <a:p>
            <a:r>
              <a:rPr lang="en-US" sz="1700"/>
              <a:t>Central bank interest rate volatility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Key Findings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549D4C-8060-CE09-F8B7-7E3D333004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03223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800" dirty="0"/>
              <a:t>Major central banks tend to synchronize policy direction during global crises</a:t>
            </a:r>
            <a:r>
              <a:rPr lang="en-US" sz="1700" dirty="0"/>
              <a:t>.</a:t>
            </a:r>
          </a:p>
          <a:p>
            <a:r>
              <a:rPr lang="en-US" sz="1800" dirty="0"/>
              <a:t>Interest rate increases tend to reduce inflation but slow GDP growth.</a:t>
            </a:r>
            <a:r>
              <a:rPr lang="en-US" sz="1700" dirty="0"/>
              <a:t>.</a:t>
            </a:r>
          </a:p>
          <a:p>
            <a:r>
              <a:rPr lang="en-US" sz="1700" dirty="0"/>
              <a:t>Policy impacts vary across economies and time.</a:t>
            </a:r>
          </a:p>
          <a:p>
            <a:r>
              <a:rPr lang="en-US" sz="1700" dirty="0"/>
              <a:t>The Canadian labor market shows relative stability despite policy rate fluctuations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324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Global Monetary Regimes &amp; Canadian Monetary Policy Analysis</vt:lpstr>
      <vt:lpstr>Project Overview</vt:lpstr>
      <vt:lpstr>Research Question</vt:lpstr>
      <vt:lpstr>Data Sources</vt:lpstr>
      <vt:lpstr>Tools &amp; Technologies</vt:lpstr>
      <vt:lpstr>Data Preparation &amp; Methodology</vt:lpstr>
      <vt:lpstr>Analysis Approach</vt:lpstr>
      <vt:lpstr>Power BI Dashboard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Atale, Emilomo</cp:lastModifiedBy>
  <cp:revision>3</cp:revision>
  <dcterms:created xsi:type="dcterms:W3CDTF">2013-01-27T09:14:16Z</dcterms:created>
  <dcterms:modified xsi:type="dcterms:W3CDTF">2026-03-10T13:26:50Z</dcterms:modified>
  <cp:category/>
</cp:coreProperties>
</file>